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DDDEE"/>
                </a:solidFill>
                <a:latin typeface="Noto Sans JP"/>
              </a:defRPr>
            </a:pPr>
            <a:r>
              <a:t>Jagu'e'r 沖縄分科会 × サンエー × 琉球大学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Noto Sans JP"/>
              </a:defRPr>
            </a:pPr>
            <a:r>
              <a:t>チーム名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474720"/>
            <a:ext cx="3931920" cy="27432"/>
          </a:xfrm>
          <a:prstGeom prst="rect">
            <a:avLst/>
          </a:prstGeom>
          <a:solidFill>
            <a:srgbClr val="88A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E0EF"/>
                </a:solidFill>
                <a:latin typeface="Noto Sans JP"/>
              </a:defRPr>
            </a:pPr>
            <a:r>
              <a:t>データで考える、沖縄の「ちょうどいい」と「もっといい」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Noto Sans JP"/>
              </a:defRPr>
            </a:pPr>
            <a:r>
              <a:t>成果発表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BDD"/>
                </a:solidFill>
                <a:latin typeface="Noto Sans JP"/>
              </a:defRPr>
            </a:pPr>
            <a:r>
              <a:t>2026.04.11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43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AABBDD"/>
                </a:solidFill>
                <a:latin typeface="Noto Sans JP"/>
              </a:defRPr>
            </a:pPr>
            <a:r>
              <a:t>メンバー: ___ / ___ / ___ / 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7B6"/>
                </a:solidFill>
                <a:latin typeface="Noto Sans JP"/>
              </a:defRPr>
            </a:pPr>
            <a:r>
              <a:t>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23E8A"/>
                </a:solidFill>
                <a:latin typeface="Noto Sans JP"/>
              </a:defRPr>
            </a:pPr>
            <a:r>
              <a:t>私たちが取り組んだ問い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18320" cy="164592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54864" cy="16459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4206240"/>
            <a:ext cx="8961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1">
                <a:solidFill>
                  <a:srgbClr val="64748B"/>
                </a:solidFill>
                <a:latin typeface="Noto Sans JP"/>
              </a:defRPr>
            </a:pPr>
            <a:r>
              <a:t>背景・きっかけ:</a:t>
            </a:r>
          </a:p>
          <a:p>
            <a:pPr>
              <a:spcAft>
                <a:spcPts val="750"/>
              </a:spcAft>
              <a:defRPr sz="1500">
                <a:solidFill>
                  <a:srgbClr val="64748B"/>
                </a:solidFill>
                <a:latin typeface="Noto Sans JP"/>
              </a:defRPr>
            </a:pPr>
            <a:r>
              <a:t>ここに分析テーマの背景を記入してください。</a:t>
            </a:r>
          </a:p>
          <a:p>
            <a:pPr>
              <a:spcAft>
                <a:spcPts val="750"/>
              </a:spcAft>
              <a:defRPr sz="1500">
                <a:solidFill>
                  <a:srgbClr val="64748B"/>
                </a:solidFill>
                <a:latin typeface="Noto Sans JP"/>
              </a:defRPr>
            </a:pPr>
            <a:r>
              <a:t>例: 「旧盆は沖縄最大の行事。売上への影響を定量的に分析したい」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Noto Sans JP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7B6"/>
                </a:solidFill>
                <a:latin typeface="Noto Sans JP"/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3E8A"/>
                </a:solidFill>
                <a:latin typeface="Noto Sans JP"/>
              </a:defRPr>
            </a:pPr>
            <a:r>
              <a:t>分析アプローチ</a:t>
            </a:r>
          </a:p>
        </p:txBody>
      </p:sp>
      <p:sp>
        <p:nvSpPr>
          <p:cNvPr id="5" name="Oval 4"/>
          <p:cNvSpPr/>
          <p:nvPr/>
        </p:nvSpPr>
        <p:spPr>
          <a:xfrm>
            <a:off x="2103120" y="1828800"/>
            <a:ext cx="640080" cy="64008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3E8A"/>
                </a:solidFill>
                <a:latin typeface="Noto Sans JP"/>
              </a:defRPr>
            </a:pPr>
            <a:r>
              <a:t>仮説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Noto Sans JP"/>
              </a:defRPr>
            </a:pPr>
            <a:r>
              <a:t>ここに仮説を記入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1828800"/>
            <a:ext cx="640080" cy="64008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3E8A"/>
                </a:solidFill>
                <a:latin typeface="Noto Sans JP"/>
              </a:defRPr>
            </a:pPr>
            <a:r>
              <a:t>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Noto Sans JP"/>
              </a:defRPr>
            </a:pPr>
            <a:r>
              <a:t>AIに聞いた質問や手法を記入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0" y="1828800"/>
            <a:ext cx="640080" cy="64008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87451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Noto Sans JP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3E8A"/>
                </a:solidFill>
                <a:latin typeface="Noto Sans JP"/>
              </a:defRPr>
            </a:pPr>
            <a:r>
              <a:t>検証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Noto Sans JP"/>
              </a:defRPr>
            </a:pPr>
            <a:r>
              <a:t>結果からの検証を記入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Noto Sans JP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1069848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BBCCDD"/>
                </a:solidFill>
                <a:latin typeface="Courier New"/>
              </a:defRPr>
            </a:pPr>
            <a:r>
              <a:t>-- ここに Conversational Analytics に入力したプロンプトを貼り付け</a:t>
            </a:r>
          </a:p>
          <a:p>
            <a:pPr>
              <a:spcAft>
                <a:spcPts val="650"/>
              </a:spcAft>
              <a:defRPr sz="1300">
                <a:solidFill>
                  <a:srgbClr val="BBCCDD"/>
                </a:solidFill>
                <a:latin typeface="Courier New"/>
              </a:defRPr>
            </a:pPr>
            <a:r>
              <a:t>例: 「旧盆期間の売上を日別に集計して、前週と比較してください」</a:t>
            </a:r>
          </a:p>
          <a:p>
            <a:pPr>
              <a:spcAft>
                <a:spcPts val="650"/>
              </a:spcAft>
              <a:defRPr sz="1300">
                <a:solidFill>
                  <a:srgbClr val="BBCCDD"/>
                </a:solidFill>
                <a:latin typeface="Courier New"/>
              </a:defRPr>
            </a:pPr>
            <a:r>
              <a:t>例: 「一番売れた商品トップ10を教えてください」</a:t>
            </a:r>
          </a:p>
          <a:p>
            <a:pPr>
              <a:spcAft>
                <a:spcPts val="650"/>
              </a:spcAft>
              <a:defRPr sz="1300">
                <a:solidFill>
                  <a:srgbClr val="BBCCDD"/>
                </a:solidFill>
                <a:latin typeface="Courier New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Noto Sans JP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7B6"/>
                </a:solidFill>
                <a:latin typeface="Noto Sans JP"/>
              </a:defRPr>
            </a:pPr>
            <a: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3E8A"/>
                </a:solidFill>
                <a:latin typeface="Noto Sans JP"/>
              </a:defRPr>
            </a:pPr>
            <a:r>
              <a:t>発見したこと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18872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23E8A"/>
                </a:solidFill>
                <a:latin typeface="Noto Sans JP"/>
              </a:defRPr>
            </a:pPr>
            <a:r>
              <a:t>発見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Noto Sans JP"/>
              </a:defRPr>
            </a:pPr>
            <a:r>
              <a:t>ここに発見を記入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303520" cy="1188720"/>
          </a:xfrm>
          <a:prstGeom prst="round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54864" cy="1188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23E8A"/>
                </a:solidFill>
                <a:latin typeface="Noto Sans JP"/>
              </a:defRPr>
            </a:pPr>
            <a:r>
              <a:t>発見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Noto Sans JP"/>
              </a:defRPr>
            </a:pPr>
            <a:r>
              <a:t>ここに発見を記入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72000"/>
            <a:ext cx="5303520" cy="1188720"/>
          </a:xfrm>
          <a:prstGeom prst="roundRect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54864" cy="1188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23E8A"/>
                </a:solidFill>
                <a:latin typeface="Noto Sans JP"/>
              </a:defRPr>
            </a:pPr>
            <a:r>
              <a:t>発見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120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Noto Sans JP"/>
              </a:defRPr>
            </a:pPr>
            <a:r>
              <a:t>ここに発見を記入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743200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94A3B8"/>
                </a:solidFill>
                <a:latin typeface="Noto Sans JP"/>
              </a:defRPr>
            </a:pPr>
            <a:r>
              <a:t>グラフ・スクリーンショットを</a:t>
            </a:r>
          </a:p>
          <a:p>
            <a:pPr>
              <a:spcAft>
                <a:spcPts val="700"/>
              </a:spcAft>
              <a:defRPr sz="1400">
                <a:solidFill>
                  <a:srgbClr val="94A3B8"/>
                </a:solidFill>
                <a:latin typeface="Noto Sans JP"/>
              </a:defRPr>
            </a:pPr>
            <a:r>
              <a:t>ここに貼り付け</a:t>
            </a:r>
          </a:p>
          <a:p>
            <a:pPr>
              <a:spcAft>
                <a:spcPts val="700"/>
              </a:spcAft>
              <a:defRPr sz="1400">
                <a:solidFill>
                  <a:srgbClr val="94A3B8"/>
                </a:solidFill>
                <a:latin typeface="Noto Sans JP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94A3B8"/>
                </a:solidFill>
                <a:latin typeface="Noto Sans JP"/>
              </a:defRPr>
            </a:pPr>
            <a:r>
              <a:t>（BigQuery の結果画面や</a:t>
            </a:r>
          </a:p>
          <a:p>
            <a:pPr>
              <a:spcAft>
                <a:spcPts val="700"/>
              </a:spcAft>
              <a:defRPr sz="1400">
                <a:solidFill>
                  <a:srgbClr val="94A3B8"/>
                </a:solidFill>
                <a:latin typeface="Noto Sans JP"/>
              </a:defRPr>
            </a:pPr>
            <a:r>
              <a:t>Looker Studio のグラフ等）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Noto Sans JP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7B6"/>
                </a:solidFill>
                <a:latin typeface="Noto Sans JP"/>
              </a:defRPr>
            </a:pPr>
            <a:r>
              <a:t>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3E8A"/>
                </a:solidFill>
                <a:latin typeface="Noto Sans JP"/>
              </a:defRPr>
            </a:pPr>
            <a:r>
              <a:t>考察と提案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3E8A"/>
                </a:solidFill>
                <a:latin typeface="Noto Sans JP"/>
              </a:defRPr>
            </a:pPr>
            <a:r>
              <a:t>データから見えたこと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80"/>
              </a:spcAft>
              <a:defRPr sz="1600">
                <a:solidFill>
                  <a:srgbClr val="475569"/>
                </a:solidFill>
                <a:latin typeface="Noto Sans JP"/>
              </a:defRPr>
            </a:pPr>
            <a:r>
              <a:t>• ここに考察を記入</a:t>
            </a:r>
          </a:p>
          <a:p>
            <a:pPr>
              <a:spcAft>
                <a:spcPts val="1280"/>
              </a:spcAft>
              <a:defRPr sz="1600">
                <a:solidFill>
                  <a:srgbClr val="475569"/>
                </a:solidFill>
                <a:latin typeface="Noto Sans JP"/>
              </a:defRPr>
            </a:pPr>
            <a:r>
              <a:t>• データが示す意味</a:t>
            </a:r>
          </a:p>
          <a:p>
            <a:pPr>
              <a:spcAft>
                <a:spcPts val="1280"/>
              </a:spcAft>
              <a:defRPr sz="1600">
                <a:solidFill>
                  <a:srgbClr val="475569"/>
                </a:solidFill>
                <a:latin typeface="Noto Sans JP"/>
              </a:defRPr>
            </a:pPr>
            <a:r>
              <a:t>• ビジネスへの示唆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3E8A"/>
                </a:solidFill>
                <a:latin typeface="Noto Sans JP"/>
              </a:defRPr>
            </a:pPr>
            <a:r>
              <a:t>提案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37744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475569"/>
                </a:solidFill>
                <a:latin typeface="Noto Sans JP"/>
              </a:defRPr>
            </a:pPr>
            <a:r>
              <a:t>サンエーへの提案や</a:t>
            </a:r>
          </a:p>
          <a:p>
            <a:pPr>
              <a:spcAft>
                <a:spcPts val="700"/>
              </a:spcAft>
              <a:defRPr sz="1400">
                <a:solidFill>
                  <a:srgbClr val="475569"/>
                </a:solidFill>
                <a:latin typeface="Noto Sans JP"/>
              </a:defRPr>
            </a:pPr>
            <a:r>
              <a:t>アイデアを記入してください。</a:t>
            </a:r>
          </a:p>
          <a:p>
            <a:pPr>
              <a:spcAft>
                <a:spcPts val="700"/>
              </a:spcAft>
              <a:defRPr sz="1400">
                <a:solidFill>
                  <a:srgbClr val="475569"/>
                </a:solidFill>
                <a:latin typeface="Noto Sans JP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475569"/>
                </a:solidFill>
                <a:latin typeface="Noto Sans JP"/>
              </a:defRPr>
            </a:pPr>
            <a:r>
              <a:t>例: 旧盆2日前からの在庫積み増し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03520"/>
            <a:ext cx="10698480" cy="82296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44210"/>
                </a:solidFill>
                <a:latin typeface="Noto Sans JP"/>
              </a:defRPr>
            </a:pPr>
            <a:r>
              <a:t>残った疑問・もっと調べたいこと: 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Noto Sans JP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Noto Sans JP"/>
              </a:defRPr>
            </a:pPr>
            <a: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E0EF"/>
                </a:solidFill>
                <a:latin typeface="Noto Sans JP"/>
              </a:defRPr>
            </a:pPr>
            <a:r>
              <a:t>ご質問・フィードバックをお願いします！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27432"/>
          </a:xfrm>
          <a:prstGeom prst="rect">
            <a:avLst/>
          </a:prstGeom>
          <a:solidFill>
            <a:srgbClr val="88A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Noto Sans JP"/>
              </a:defRPr>
            </a:pPr>
            <a:r>
              <a:t>チーム名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DD"/>
                </a:solidFill>
                <a:latin typeface="Noto Sans JP"/>
              </a:defRPr>
            </a:pPr>
            <a:r>
              <a:t>#Jauger_okinawa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1264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AACC"/>
                </a:solidFill>
                <a:latin typeface="Noto Sans JP"/>
              </a:defRPr>
            </a:pPr>
            <a:r>
              <a:t>Jagu'e'r 沖縄分科会 × サンエー × 琉球大学 | 2026.04.11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